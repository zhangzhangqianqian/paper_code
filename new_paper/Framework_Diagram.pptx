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c9e8657a3c6489f" /><Relationship Type="http://schemas.openxmlformats.org/officeDocument/2006/relationships/extended-properties" Target="/docProps/app.xml" Id="R6101328626644c30" /><Relationship Type="http://schemas.openxmlformats.org/officeDocument/2006/relationships/officeDocument" Target="/ppt/presentation.xml" Id="R40d5ae82bbd546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5cefb2128640f6"/>
  </p:sldMasterIdLst>
  <p:notesMasterIdLst>
    <p:notesMasterId xmlns:r="http://schemas.openxmlformats.org/officeDocument/2006/relationships" r:id="R4e8b7ce89f404c99"/>
  </p:notesMasterIdLst>
  <p:sldIdLst>
    <p:sldId xmlns:r="http://schemas.openxmlformats.org/officeDocument/2006/relationships" id="256" r:id="Rbb967c7833984df5"/>
  </p:sldIdLst>
  <p:sldSz cx="13716000" cy="7715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e98e7db3284b28" /><Relationship Type="http://schemas.openxmlformats.org/officeDocument/2006/relationships/slideMaster" Target="/ppt/slideMasters/slideMaster1.xml" Id="Rd25cefb2128640f6" /><Relationship Type="http://schemas.openxmlformats.org/officeDocument/2006/relationships/notesMaster" Target="/ppt/notesMasters/notesMaster1.xml" Id="R4e8b7ce89f404c99" /><Relationship Type="http://schemas.openxmlformats.org/officeDocument/2006/relationships/presProps" Target="/ppt/presProps.xml" Id="R09a3b63e639f4d6d" /><Relationship Type="http://schemas.openxmlformats.org/officeDocument/2006/relationships/tableStyles" Target="/ppt/tableStyles.xml" Id="R3a4995e6573c450c" /><Relationship Type="http://schemas.openxmlformats.org/officeDocument/2006/relationships/slide" Target="/ppt/slides/slide1.xml" Id="Rbb967c7833984df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8c3eed39d514a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e856d6478c64391" /><Relationship Type="http://schemas.openxmlformats.org/officeDocument/2006/relationships/notesMaster" Target="/ppt/notesMasters/notesMaster1.xml" Id="R094d463448e9456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a0943f32b94b2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78f8a17c4646f7" /><Relationship Type="http://schemas.openxmlformats.org/officeDocument/2006/relationships/slideLayout" Target="/ppt/slideLayouts/slideLayout1.xml" Id="R5a08e56a41da43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08e56a41da43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81b4041034565" /><Relationship Type="http://schemas.openxmlformats.org/officeDocument/2006/relationships/notesSlide" Target="/ppt/notesSlides/notesSlide1.xml" Id="Rbb7691b140df47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1BE84DD4-9D78-4B54-A86C-70289266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09550"/>
            <a:ext cx="13030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172A"/>
                </a:solidFill>
              </a:defRPr>
            </a:pPr>
            <a:r>
              <a:rPr sz="2550" b="1">
                <a:solidFill>
                  <a:srgbClr val="0F172A"/>
                </a:solidFill>
              </a:rPr>
              <a:t>Scheme2R：状态相关的多能源联合预测框架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7BA9061-5EA5-4A0C-BDA1-D71A3853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85800"/>
            <a:ext cx="1295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输入定义 → 独立时序编码 → 状态相关有向共享 → 未来 4 步预测</a:t>
            </a:r>
          </a:p>
        </p:txBody>
      </p:sp>
      <p:sp>
        <p:nvSpPr>
          <p:cNvPr id="3" name="zone-INPUT">
            <a:extLst xmlns:a="http://schemas.openxmlformats.org/drawingml/2006/main">
              <a:ext uri="{FF2B5EF4-FFF2-40B4-BE49-F238E27FC236}">
                <a16:creationId xmlns:a16="http://schemas.microsoft.com/office/drawing/2014/main" id="{5B837277-8B83-4D4C-A004-08A128978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0668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563EB"/>
                </a:solidFill>
              </a:defRPr>
            </a:pPr>
            <a:r>
              <a:rPr sz="975" b="1">
                <a:solidFill>
                  <a:srgbClr val="2563EB"/>
                </a:solidFill>
              </a:rPr>
              <a:t>INPUT</a:t>
            </a:r>
          </a:p>
        </p:txBody>
      </p:sp>
      <p:sp>
        <p:nvSpPr>
          <p:cNvPr id="4" name="zone-TASK ENCODING">
            <a:extLst xmlns:a="http://schemas.openxmlformats.org/drawingml/2006/main">
              <a:ext uri="{FF2B5EF4-FFF2-40B4-BE49-F238E27FC236}">
                <a16:creationId xmlns:a16="http://schemas.microsoft.com/office/drawing/2014/main" id="{57E56399-1101-4EA8-B720-FB67FF7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066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F766E"/>
                </a:solidFill>
              </a:defRPr>
            </a:pPr>
            <a:r>
              <a:rPr sz="975" b="1">
                <a:solidFill>
                  <a:srgbClr val="0F766E"/>
                </a:solidFill>
              </a:rPr>
              <a:t>TASK ENCODING</a:t>
            </a:r>
          </a:p>
        </p:txBody>
      </p:sp>
      <p:sp>
        <p:nvSpPr>
          <p:cNvPr id="5" name="zone-ROUTING AND FUSION">
            <a:extLst xmlns:a="http://schemas.openxmlformats.org/drawingml/2006/main">
              <a:ext uri="{FF2B5EF4-FFF2-40B4-BE49-F238E27FC236}">
                <a16:creationId xmlns:a16="http://schemas.microsoft.com/office/drawing/2014/main" id="{F55F9835-BDF9-4BBC-AAC2-FBC48CEE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06680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7C3AED"/>
                </a:solidFill>
              </a:defRPr>
            </a:pPr>
            <a:r>
              <a:rPr sz="975" b="1">
                <a:solidFill>
                  <a:srgbClr val="7C3AED"/>
                </a:solidFill>
              </a:rPr>
              <a:t>ROUTING AND FUSION</a:t>
            </a:r>
          </a:p>
        </p:txBody>
      </p:sp>
      <p:sp>
        <p:nvSpPr>
          <p:cNvPr id="6" name="zone-OUTPUT">
            <a:extLst xmlns:a="http://schemas.openxmlformats.org/drawingml/2006/main">
              <a:ext uri="{FF2B5EF4-FFF2-40B4-BE49-F238E27FC236}">
                <a16:creationId xmlns:a16="http://schemas.microsoft.com/office/drawing/2014/main" id="{B7310B1F-0AFC-475E-A850-EAB15AA9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066800"/>
            <a:ext cx="3600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EA580C"/>
                </a:solidFill>
              </a:defRPr>
            </a:pPr>
            <a:r>
              <a:rPr sz="975" b="1">
                <a:solidFill>
                  <a:srgbClr val="EA580C"/>
                </a:solidFill>
              </a:rPr>
              <a:t>OUTPUT</a:t>
            </a:r>
          </a:p>
        </p:txBody>
      </p:sp>
      <p:sp>
        <p:nvSpPr>
          <p:cNvPr id="7" name="input-frame">
            <a:extLst xmlns:a="http://schemas.openxmlformats.org/drawingml/2006/main">
              <a:ext uri="{FF2B5EF4-FFF2-40B4-BE49-F238E27FC236}">
                <a16:creationId xmlns:a16="http://schemas.microsoft.com/office/drawing/2014/main" id="{2079A73B-B3E2-4668-85D1-EE45820B9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81125"/>
            <a:ext cx="2571750" cy="533400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19050">
            <a:solidFill>
              <a:srgbClr val="93C5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tin-set">
            <a:extLst xmlns:a="http://schemas.openxmlformats.org/drawingml/2006/main">
              <a:ext uri="{FF2B5EF4-FFF2-40B4-BE49-F238E27FC236}">
                <a16:creationId xmlns:a16="http://schemas.microsoft.com/office/drawing/2014/main" id="{5F6154D6-6BA7-4917-BCD9-9165E070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600200"/>
            <a:ext cx="22669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DBFE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T_in = { e, c, h, g, R 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e  electricity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c  cooling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h  heating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  gas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R  weather + calendar (F=12)</a:t>
            </a:r>
          </a:p>
          <a:p xmlns:a="http://schemas.openxmlformats.org/drawingml/2006/main">
            <a:pPr algn="l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tensor order: [e,c,h,g]</a:t>
            </a:r>
          </a:p>
        </p:txBody>
      </p:sp>
      <p:sp>
        <p:nvSpPr>
          <p:cNvPr id="9" name="input-window">
            <a:extLst xmlns:a="http://schemas.openxmlformats.org/drawingml/2006/main">
              <a:ext uri="{FF2B5EF4-FFF2-40B4-BE49-F238E27FC236}">
                <a16:creationId xmlns:a16="http://schemas.microsoft.com/office/drawing/2014/main" id="{2EEC71DD-7274-4AE6-BE6E-C773128F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76625"/>
            <a:ext cx="2266950" cy="171450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14288">
            <a:solidFill>
              <a:srgbClr val="60A5FA"/>
            </a:solidFill>
            <a:prstDash val="solid"/>
          </a:ln>
        </p:spPr>
        <p:txBody xmlns:a="http://schemas.openxmlformats.org/drawingml/2006/main">
          <a:bodyPr anchor="ctr" lIns="100000" rIns="100000" tIns="70000" bIns="70000"/>
          <a:lstStyle/>
          <a:p>
            <a:pPr algn="ctr">
              <a:defRPr sz="1260" b="0">
                <a:solidFill>
                  <a:srgbClr val="172033"/>
                </a:solidFill>
              </a:defRPr>
            </a:pPr>
            <a:r>
              <a:rPr sz="1260" b="0">
                <a:solidFill>
                  <a:srgbClr val="172033"/>
                </a:solidFill>
              </a:rPr>
              <a:t>历史输入窗口</a:t>
            </a:r>
          </a:p>
          <a:p>
            <a:pPr algn="ctr">
              <a:defRPr sz="1260" b="0">
                <a:solidFill>
                  <a:srgbClr val="172033"/>
                </a:solidFill>
              </a:defRPr>
            </a:pPr>
            <a:r>
              <a:rPr sz="1260" b="0">
                <a:solidFill>
                  <a:srgbClr val="172033"/>
                </a:solidFill>
              </a:rPr>
              <a:t>X_(t-23:t)</a:t>
            </a:r>
          </a:p>
          <a:p>
            <a:pPr algn="ctr">
              <a:defRPr sz="1260" b="0">
                <a:solidFill>
                  <a:srgbClr val="172033"/>
                </a:solidFill>
              </a:defRPr>
            </a:pPr>
            <a:r>
              <a:rPr sz="1260" b="0">
                <a:solidFill>
                  <a:srgbClr val="172033"/>
                </a:solidFill>
              </a:rPr>
              <a:t>L = 24，1 h采样</a:t>
            </a:r>
          </a:p>
          <a:p>
            <a:pPr algn="ctr">
              <a:defRPr sz="1260" b="0">
                <a:solidFill>
                  <a:srgbClr val="172033"/>
                </a:solidFill>
              </a:defRPr>
            </a:pPr>
            <a:r>
              <a:rPr sz="1260" b="0">
                <a:solidFill>
                  <a:srgbClr val="172033"/>
                </a:solidFill>
              </a:rPr>
              <a:t>loads [B,24,4]</a:t>
            </a:r>
          </a:p>
          <a:p>
            <a:pPr algn="ctr">
              <a:defRPr sz="1260" b="0">
                <a:solidFill>
                  <a:srgbClr val="172033"/>
                </a:solidFill>
              </a:defRPr>
            </a:pPr>
            <a:r>
              <a:rPr sz="1260" b="0">
                <a:solidFill>
                  <a:srgbClr val="172033"/>
                </a:solidFill>
              </a:rPr>
              <a:t>exog [B,24,12]</a:t>
            </a:r>
          </a:p>
          <a:p>
            <a:pPr algn="ctr">
              <a:defRPr sz="1260" b="0">
                <a:solidFill>
                  <a:srgbClr val="172033"/>
                </a:solidFill>
              </a:defRPr>
            </a:pPr>
            <a:r>
              <a:rPr sz="1260" b="0">
                <a:solidFill>
                  <a:srgbClr val="172033"/>
                </a:solidFill>
              </a:rPr>
              <a:t>每任务：[B,24,1] ⊕ [B,24,12]</a:t>
            </a:r>
          </a:p>
          <a:p>
            <a:pPr algn="ctr">
              <a:defRPr sz="1260" b="0">
                <a:solidFill>
                  <a:srgbClr val="172033"/>
                </a:solidFill>
              </a:defRPr>
            </a:pPr>
            <a:r>
              <a:rPr sz="1260" b="0">
                <a:solidFill>
                  <a:srgbClr val="172033"/>
                </a:solidFill>
              </a:rPr>
              <a:t>→ [B,24,13]</a:t>
            </a:r>
          </a:p>
        </p:txBody>
      </p:sp>
      <p:sp>
        <p:nvSpPr>
          <p:cNvPr id="10" name="input-protocol">
            <a:extLst xmlns:a="http://schemas.openxmlformats.org/drawingml/2006/main">
              <a:ext uri="{FF2B5EF4-FFF2-40B4-BE49-F238E27FC236}">
                <a16:creationId xmlns:a16="http://schemas.microsoft.com/office/drawing/2014/main" id="{B42E9640-5263-4F01-A66A-C6647606B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2266950" cy="8572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0F2FE"/>
          </a:solidFill>
          <a:ln xmlns:a="http://schemas.openxmlformats.org/drawingml/2006/main" w="14288">
            <a:solidFill>
              <a:srgbClr val="38BDF8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预测目标：4 类负荷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预测长度：H = 4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只使用历史外生变量</a:t>
            </a:r>
          </a:p>
        </p:txBody>
      </p:sp>
      <p:sp>
        <p:nvSpPr>
          <p:cNvPr id="11" name="encoder-electricity">
            <a:extLst xmlns:a="http://schemas.openxmlformats.org/drawingml/2006/main">
              <a:ext uri="{FF2B5EF4-FFF2-40B4-BE49-F238E27FC236}">
                <a16:creationId xmlns:a16="http://schemas.microsoft.com/office/drawing/2014/main" id="{D344D7D2-9A68-44C9-8D0F-707FEBE0F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600200"/>
            <a:ext cx="2400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5EE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e  electricity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DS-TCN (k=5, d=1/2/4, RF=29)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[B,24,32] → [B,32]</a:t>
            </a:r>
          </a:p>
        </p:txBody>
      </p:sp>
      <p:sp>
        <p:nvSpPr>
          <p:cNvPr id="12" name="encoder-cooling">
            <a:extLst xmlns:a="http://schemas.openxmlformats.org/drawingml/2006/main">
              <a:ext uri="{FF2B5EF4-FFF2-40B4-BE49-F238E27FC236}">
                <a16:creationId xmlns:a16="http://schemas.microsoft.com/office/drawing/2014/main" id="{A4B13BEE-3766-4C9D-A1A4-8509DA51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552700"/>
            <a:ext cx="2400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5EE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c  cooling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DS-TCN (k=5, d=1/2/4, RF=29)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[B,24,32] → [B,32]</a:t>
            </a:r>
          </a:p>
        </p:txBody>
      </p:sp>
      <p:sp>
        <p:nvSpPr>
          <p:cNvPr id="13" name="encoder-heating">
            <a:extLst xmlns:a="http://schemas.openxmlformats.org/drawingml/2006/main">
              <a:ext uri="{FF2B5EF4-FFF2-40B4-BE49-F238E27FC236}">
                <a16:creationId xmlns:a16="http://schemas.microsoft.com/office/drawing/2014/main" id="{5B225A18-BC6D-4259-B87D-0FCF31D34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05200"/>
            <a:ext cx="2400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5EE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h  heating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DS-TCN (k=5, d=1/2/4, RF=29)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[B,24,32] → [B,32]</a:t>
            </a:r>
          </a:p>
        </p:txBody>
      </p:sp>
      <p:sp>
        <p:nvSpPr>
          <p:cNvPr id="14" name="encoder-gas">
            <a:extLst xmlns:a="http://schemas.openxmlformats.org/drawingml/2006/main">
              <a:ext uri="{FF2B5EF4-FFF2-40B4-BE49-F238E27FC236}">
                <a16:creationId xmlns:a16="http://schemas.microsoft.com/office/drawing/2014/main" id="{6BD14F8A-6578-493B-9B03-7C15360D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57700"/>
            <a:ext cx="2400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14288">
            <a:solidFill>
              <a:srgbClr val="5EEAD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g  gas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DS-TCN (k=5, d=1/2/4, RF=29)</a:t>
            </a:r>
          </a:p>
          <a:p xmlns:a="http://schemas.openxmlformats.org/drawingml/2006/main">
            <a:pPr algn="ctr">
              <a:defRPr sz="975" b="0">
                <a:solidFill>
                  <a:srgbClr val="172033"/>
                </a:solidFill>
              </a:defRPr>
            </a:pPr>
            <a:r>
              <a:rPr sz="975" b="0">
                <a:solidFill>
                  <a:srgbClr val="172033"/>
                </a:solidFill>
              </a:rPr>
              <a:t>[B,24,32] → [B,32]</a:t>
            </a:r>
          </a:p>
        </p:txBody>
      </p:sp>
      <p:sp>
        <p:nvSpPr>
          <p:cNvPr id="15" name="encoder-group">
            <a:extLst xmlns:a="http://schemas.openxmlformats.org/drawingml/2006/main">
              <a:ext uri="{FF2B5EF4-FFF2-40B4-BE49-F238E27FC236}">
                <a16:creationId xmlns:a16="http://schemas.microsoft.com/office/drawing/2014/main" id="{1CFCA33B-5D3B-4AE2-9D29-EE954535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485900"/>
            <a:ext cx="2552700" cy="3905250"/>
          </a:xfrm>
          <a:prstGeom xmlns:a="http://schemas.openxmlformats.org/drawingml/2006/main" prst="roundRect">
            <a:avLst>
              <a:gd name="adj" fmla="val 29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task-representation">
            <a:extLst xmlns:a="http://schemas.openxmlformats.org/drawingml/2006/main">
              <a:ext uri="{FF2B5EF4-FFF2-40B4-BE49-F238E27FC236}">
                <a16:creationId xmlns:a16="http://schemas.microsoft.com/office/drawing/2014/main" id="{EFA701FC-0944-4141-985C-F6672701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572125"/>
            <a:ext cx="24003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14288">
            <a:solidFill>
              <a:srgbClr val="14B8A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任务表示 H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stack → [B, T=4, D=32]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四个编码器参数独立</a:t>
            </a:r>
          </a:p>
        </p:txBody>
      </p:sp>
      <p:sp>
        <p:nvSpPr>
          <p:cNvPr id="17" name="context">
            <a:extLst xmlns:a="http://schemas.openxmlformats.org/drawingml/2006/main">
              <a:ext uri="{FF2B5EF4-FFF2-40B4-BE49-F238E27FC236}">
                <a16:creationId xmlns:a16="http://schemas.microsoft.com/office/drawing/2014/main" id="{0C567188-1812-4A81-96EA-C71A1491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600200"/>
            <a:ext cx="33147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4288">
            <a:solidFill>
              <a:srgbClr val="C4B5FD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增强状态与预测步上下文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天气 + 日历 → z [B, 16]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预测步嵌入 → [H=4, dₚ=4]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目标/来源角色嵌入：[T=4, dₑ=8]</a:t>
            </a:r>
          </a:p>
        </p:txBody>
      </p:sp>
      <p:sp>
        <p:nvSpPr>
          <p:cNvPr id="18" name="router">
            <a:extLst xmlns:a="http://schemas.openxmlformats.org/drawingml/2006/main">
              <a:ext uri="{FF2B5EF4-FFF2-40B4-BE49-F238E27FC236}">
                <a16:creationId xmlns:a16="http://schemas.microsoft.com/office/drawing/2014/main" id="{584A7BA3-ADA8-49F1-956E-EBC97654B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0375"/>
            <a:ext cx="33147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14288">
            <a:solidFill>
              <a:srgbClr val="8B5CF6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两级动态有向路由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ρ：共享强度 [B,H=4,T=4]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π：来源分配 [B,H=4,T=4,T=4]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G = ρ × π：最终门控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非对角任务对：4×(4−1)=12 条有向边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[B,H=4,T=4,T=4]</a:t>
            </a:r>
          </a:p>
        </p:txBody>
      </p:sp>
      <p:sp>
        <p:nvSpPr>
          <p:cNvPr id="19" name="route-note">
            <a:extLst xmlns:a="http://schemas.openxmlformats.org/drawingml/2006/main">
              <a:ext uri="{FF2B5EF4-FFF2-40B4-BE49-F238E27FC236}">
                <a16:creationId xmlns:a16="http://schemas.microsoft.com/office/drawing/2014/main" id="{EAD44F49-830C-4333-9BA0-1669A3BC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381625"/>
            <a:ext cx="33147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5F3FF"/>
          </a:solidFill>
          <a:ln xmlns:a="http://schemas.openxmlformats.org/drawingml/2006/main" w="14288">
            <a:solidFill>
              <a:srgbClr val="A78BFA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目标任务决定是否共享；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来源任务决定从谁共享；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自连接 gᵢ←ᵢ = 0；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每个预测步可产生不同路由。</a:t>
            </a:r>
          </a:p>
        </p:txBody>
      </p:sp>
      <p:sp>
        <p:nvSpPr>
          <p:cNvPr id="20" name="fusion">
            <a:extLst xmlns:a="http://schemas.openxmlformats.org/drawingml/2006/main">
              <a:ext uri="{FF2B5EF4-FFF2-40B4-BE49-F238E27FC236}">
                <a16:creationId xmlns:a16="http://schemas.microsoft.com/office/drawing/2014/main" id="{843F7668-F6E6-4E0F-9F0B-FAB94E46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1600200"/>
            <a:ext cx="33909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14288">
            <a:solidFill>
              <a:srgbClr val="FDBA7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低秩跨任务消息 + 稳定残差融合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消息投影 → LayerNorm → α_i 残差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四个目标残差节点：α_e / α_c / α_h / α_g</a:t>
            </a:r>
          </a:p>
          <a:p xmlns:a="http://schemas.openxmlformats.org/drawingml/2006/main">
            <a:pPr algn="ctr">
              <a:defRPr sz="1125" b="0">
                <a:solidFill>
                  <a:srgbClr val="172033"/>
                </a:solidFill>
              </a:defRPr>
            </a:pPr>
            <a:r>
              <a:rPr sz="1125" b="0">
                <a:solidFill>
                  <a:srgbClr val="172033"/>
                </a:solidFill>
              </a:rPr>
              <a:t>融合表示 [B,H=4,T=4,D=32]</a:t>
            </a:r>
          </a:p>
        </p:txBody>
      </p:sp>
      <p:sp>
        <p:nvSpPr>
          <p:cNvPr id="21" name="head">
            <a:extLst xmlns:a="http://schemas.openxmlformats.org/drawingml/2006/main">
              <a:ext uri="{FF2B5EF4-FFF2-40B4-BE49-F238E27FC236}">
                <a16:creationId xmlns:a16="http://schemas.microsoft.com/office/drawing/2014/main" id="{EE8CC68B-6A5B-4E35-99F9-006EDE304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667125"/>
            <a:ext cx="3390900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EDD5"/>
          </a:solidFill>
          <a:ln xmlns:a="http://schemas.openxmlformats.org/drawingml/2006/main" w="14288">
            <a:solidFill>
              <a:srgbClr val="FB9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任务—预测步专属预测头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T=4 个任务 × H=4 个预测步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每个头输出 1 个标量</a:t>
            </a:r>
          </a:p>
        </p:txBody>
      </p:sp>
      <p:sp>
        <p:nvSpPr>
          <p:cNvPr id="22" name="result">
            <a:extLst xmlns:a="http://schemas.openxmlformats.org/drawingml/2006/main">
              <a:ext uri="{FF2B5EF4-FFF2-40B4-BE49-F238E27FC236}">
                <a16:creationId xmlns:a16="http://schemas.microsoft.com/office/drawing/2014/main" id="{4D9DCDA5-DE41-466C-905B-86127C13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5334000"/>
            <a:ext cx="3390900" cy="1266825"/>
          </a:xfrm>
          <a:prstGeom xmlns:a="http://schemas.openxmlformats.org/drawingml/2006/main" prst="roundRect">
            <a:avLst>
              <a:gd name="adj" fmla="val 6015"/>
            </a:avLst>
          </a:prstGeom>
          <a:solidFill xmlns:a="http://schemas.openxmlformats.org/drawingml/2006/main">
            <a:srgbClr val="FFF1F2"/>
          </a:solidFill>
          <a:ln xmlns:a="http://schemas.openxmlformats.org/drawingml/2006/main" w="14288">
            <a:solidFill>
              <a:srgbClr val="FB718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未来 4 步预测  Ŷ [B,H=4,T=4]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第 2 维 H：t+1, t+2, t+3, t+4</a:t>
            </a:r>
          </a:p>
          <a:p xmlns:a="http://schemas.openxmlformats.org/drawingml/2006/main">
            <a:pPr algn="ctr">
              <a:defRPr sz="1200" b="0">
                <a:solidFill>
                  <a:srgbClr val="172033"/>
                </a:solidFill>
              </a:defRPr>
            </a:pPr>
            <a:r>
              <a:rPr sz="1200" b="0">
                <a:solidFill>
                  <a:srgbClr val="172033"/>
                </a:solidFill>
              </a:rPr>
              <a:t>第 3 维 T：electricity / cooling / heating / gas</a:t>
            </a:r>
          </a:p>
        </p:txBody>
      </p:sp>
      <p:cxnSp>
        <p:nvCxnSpPr>
          <p:cNvPr id="5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 flipV="1">
            <a:off x="2762250" y="1990725"/>
            <a:ext cx="476250" cy="2486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57" name=""/>
          <p:cNvCxnSpPr>
            <a:stCxn xmlns:a="http://schemas.openxmlformats.org/drawingml/2006/main" id="9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 flipV="1">
            <a:off x="2762250" y="2943225"/>
            <a:ext cx="476250" cy="1533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58" name=""/>
          <p:cNvCxnSpPr>
            <a:stCxn xmlns:a="http://schemas.openxmlformats.org/drawingml/2006/main" id="9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2762250" y="3895725"/>
            <a:ext cx="476250" cy="5810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59" name=""/>
          <p:cNvCxnSpPr>
            <a:stCxn xmlns:a="http://schemas.openxmlformats.org/drawingml/2006/main" id="9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762250" y="4476750"/>
            <a:ext cx="476250" cy="3714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60" name=""/>
          <p:cNvCxnSpPr>
            <a:stCxn xmlns:a="http://schemas.openxmlformats.org/drawingml/2006/main" id="15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438650" y="5391150"/>
            <a:ext cx="0" cy="1809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4748B"/>
            </a:solidFill>
            <a:prstDash val="solid"/>
            <a:tailEnd type="arrow" w="med" len="med"/>
          </a:ln>
        </p:spPr>
      </p:cxnSp>
      <p:cxnSp>
        <p:nvCxnSpPr>
          <p:cNvPr id="61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 flipV="1">
            <a:off x="5638800" y="4048125"/>
            <a:ext cx="476250" cy="20383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tailEnd type="arrow" w="med" len="med"/>
          </a:ln>
        </p:spPr>
      </p:cxnSp>
      <p:cxnSp>
        <p:nvCxnSpPr>
          <p:cNvPr id="62" name=""/>
          <p:cNvCxnSpPr>
            <a:stCxn xmlns:a="http://schemas.openxmlformats.org/drawingml/2006/main" id="1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772400" y="2838450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C3AED"/>
            </a:solidFill>
            <a:prstDash val="solid"/>
            <a:tailEnd type="arrow" w="med" len="med"/>
          </a:ln>
        </p:spPr>
      </p:cxnSp>
      <p:cxnSp>
        <p:nvCxnSpPr>
          <p:cNvPr id="63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 flipV="1">
            <a:off x="9429750" y="2505075"/>
            <a:ext cx="361950" cy="1543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0955">
            <a:solidFill>
              <a:srgbClr val="7C3AED"/>
            </a:solidFill>
            <a:prstDash val="solid"/>
            <a:tailEnd type="arrow" w="med" len="med"/>
          </a:ln>
        </p:spPr>
      </p:cxnSp>
      <p:cxnSp>
        <p:nvCxnSpPr>
          <p:cNvPr id="64" name=""/>
          <p:cNvCxnSpPr>
            <a:stCxn xmlns:a="http://schemas.openxmlformats.org/drawingml/2006/main" id="20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1487150" y="3409950"/>
            <a:ext cx="0" cy="25717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A580C"/>
            </a:solidFill>
            <a:prstDash val="solid"/>
            <a:tailEnd type="arrow" w="med" len="med"/>
          </a:ln>
        </p:spPr>
      </p:cxnSp>
      <p:cxnSp>
        <p:nvCxnSpPr>
          <p:cNvPr id="65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11487150" y="4905375"/>
            <a:ext cx="0" cy="428625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EA580C"/>
            </a:solidFill>
            <a:prstDash val="solid"/>
            <a:tailEnd type="arrow" w="med" len="med"/>
          </a:ln>
        </p:spPr>
      </p:cxnSp>
      <p:sp>
        <p:nvSpPr>
          <p:cNvPr id="33" name="footer">
            <a:extLst xmlns:a="http://schemas.openxmlformats.org/drawingml/2006/main">
              <a:ext uri="{FF2B5EF4-FFF2-40B4-BE49-F238E27FC236}">
                <a16:creationId xmlns:a16="http://schemas.microsoft.com/office/drawing/2014/main" id="{EBDEED38-4899-45DF-A63D-373264F9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7219950"/>
            <a:ext cx="1299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图 1. Scheme2R 的输入定义、动态有向共享过程与四任务多步预测输出。</a:t>
            </a:r>
          </a:p>
        </p:txBody>
      </p:sp>
    </p:spTree>
    <p:extLst>
      <p:ext uri="{BB962C8B-B14F-4D97-AF65-F5344CB8AC3E}">
        <p14:creationId xmlns:p14="http://schemas.microsoft.com/office/powerpoint/2010/main" val="9241477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2026-08-02T07:18:00.6940000Z</dcterms:created>
  <dcterms:modified xsi:type="dcterms:W3CDTF">2026-08-02T07:18:00.6940000Z</dcterms:modified>
</coreProperties>
</file>